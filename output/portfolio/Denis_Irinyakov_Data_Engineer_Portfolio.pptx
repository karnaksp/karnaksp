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21287828944ae5" /><Relationship Type="http://schemas.openxmlformats.org/officeDocument/2006/relationships/extended-properties" Target="/docProps/app.xml" Id="R0034aa6a3f094678" /><Relationship Type="http://schemas.openxmlformats.org/officeDocument/2006/relationships/officeDocument" Target="/ppt/presentation.xml" Id="R518312d4a5964d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6bf7b3c7ca4db5"/>
  </p:sldMasterIdLst>
  <p:notesMasterIdLst>
    <p:notesMasterId xmlns:r="http://schemas.openxmlformats.org/officeDocument/2006/relationships" r:id="R6d7dea77cd144dbc"/>
  </p:notesMasterIdLst>
  <p:sldIdLst>
    <p:sldId xmlns:r="http://schemas.openxmlformats.org/officeDocument/2006/relationships" id="256" r:id="R9f15a351fb2248ef"/>
    <p:sldId xmlns:r="http://schemas.openxmlformats.org/officeDocument/2006/relationships" id="257" r:id="Rb348577a48164e4f"/>
    <p:sldId xmlns:r="http://schemas.openxmlformats.org/officeDocument/2006/relationships" id="258" r:id="R3bdc85112b3b44f8"/>
    <p:sldId xmlns:r="http://schemas.openxmlformats.org/officeDocument/2006/relationships" id="259" r:id="Rf979cf78f75d4c11"/>
    <p:sldId xmlns:r="http://schemas.openxmlformats.org/officeDocument/2006/relationships" id="260" r:id="Rd33cfb0e5a7c418a"/>
    <p:sldId xmlns:r="http://schemas.openxmlformats.org/officeDocument/2006/relationships" id="261" r:id="R3a10ae50e5aa4ed0"/>
    <p:sldId xmlns:r="http://schemas.openxmlformats.org/officeDocument/2006/relationships" id="262" r:id="R648a467c4b7c4535"/>
    <p:sldId xmlns:r="http://schemas.openxmlformats.org/officeDocument/2006/relationships" id="263" r:id="R6e9112554e034092"/>
    <p:sldId xmlns:r="http://schemas.openxmlformats.org/officeDocument/2006/relationships" id="264" r:id="R419f2ab4005d432b"/>
    <p:sldId xmlns:r="http://schemas.openxmlformats.org/officeDocument/2006/relationships" id="265" r:id="Rd8e13159ca18458a"/>
    <p:sldId xmlns:r="http://schemas.openxmlformats.org/officeDocument/2006/relationships" id="266" r:id="R0bc14e7659a34c43"/>
    <p:sldId xmlns:r="http://schemas.openxmlformats.org/officeDocument/2006/relationships" id="267" r:id="R84684a3559b44694"/>
    <p:sldId xmlns:r="http://schemas.openxmlformats.org/officeDocument/2006/relationships" id="268" r:id="Rd1b7e3f0cb9141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6f3ca90bab49f1" /><Relationship Type="http://schemas.openxmlformats.org/officeDocument/2006/relationships/slideMaster" Target="/ppt/slideMasters/slideMaster1.xml" Id="Rb26bf7b3c7ca4db5" /><Relationship Type="http://schemas.openxmlformats.org/officeDocument/2006/relationships/notesMaster" Target="/ppt/notesMasters/notesMaster1.xml" Id="R6d7dea77cd144dbc" /><Relationship Type="http://schemas.openxmlformats.org/officeDocument/2006/relationships/presProps" Target="/ppt/presProps.xml" Id="R05a0bb9260e042e8" /><Relationship Type="http://schemas.openxmlformats.org/officeDocument/2006/relationships/tableStyles" Target="/ppt/tableStyles.xml" Id="R9ca11e893f56461d" /><Relationship Type="http://schemas.openxmlformats.org/officeDocument/2006/relationships/slide" Target="/ppt/slides/slide1.xml" Id="R9f15a351fb2248ef" /><Relationship Type="http://schemas.openxmlformats.org/officeDocument/2006/relationships/slide" Target="/ppt/slides/slide2.xml" Id="Rb348577a48164e4f" /><Relationship Type="http://schemas.openxmlformats.org/officeDocument/2006/relationships/slide" Target="/ppt/slides/slide3.xml" Id="R3bdc85112b3b44f8" /><Relationship Type="http://schemas.openxmlformats.org/officeDocument/2006/relationships/slide" Target="/ppt/slides/slide4.xml" Id="Rf979cf78f75d4c11" /><Relationship Type="http://schemas.openxmlformats.org/officeDocument/2006/relationships/slide" Target="/ppt/slides/slide5.xml" Id="Rd33cfb0e5a7c418a" /><Relationship Type="http://schemas.openxmlformats.org/officeDocument/2006/relationships/slide" Target="/ppt/slides/slide6.xml" Id="R3a10ae50e5aa4ed0" /><Relationship Type="http://schemas.openxmlformats.org/officeDocument/2006/relationships/slide" Target="/ppt/slides/slide7.xml" Id="R648a467c4b7c4535" /><Relationship Type="http://schemas.openxmlformats.org/officeDocument/2006/relationships/slide" Target="/ppt/slides/slide8.xml" Id="R6e9112554e034092" /><Relationship Type="http://schemas.openxmlformats.org/officeDocument/2006/relationships/slide" Target="/ppt/slides/slide9.xml" Id="R419f2ab4005d432b" /><Relationship Type="http://schemas.openxmlformats.org/officeDocument/2006/relationships/slide" Target="/ppt/slides/slide10.xml" Id="Rd8e13159ca18458a" /><Relationship Type="http://schemas.openxmlformats.org/officeDocument/2006/relationships/slide" Target="/ppt/slides/slide11.xml" Id="R0bc14e7659a34c43" /><Relationship Type="http://schemas.openxmlformats.org/officeDocument/2006/relationships/slide" Target="/ppt/slides/slide12.xml" Id="R84684a3559b44694" /><Relationship Type="http://schemas.openxmlformats.org/officeDocument/2006/relationships/slide" Target="/ppt/slides/slide13.xml" Id="Rd1b7e3f0cb9141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1ec8a7966d41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ac088f20784c6e" /><Relationship Type="http://schemas.openxmlformats.org/officeDocument/2006/relationships/notesMaster" Target="/ppt/notesMasters/notesMaster1.xml" Id="R4211d481c7924f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d0dad378294ac5" /><Relationship Type="http://schemas.openxmlformats.org/officeDocument/2006/relationships/notesMaster" Target="/ppt/notesMasters/notesMaster1.xml" Id="Rd18f14bdae7b43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7e238fe5f34eeb" /><Relationship Type="http://schemas.openxmlformats.org/officeDocument/2006/relationships/notesMaster" Target="/ppt/notesMasters/notesMaster1.xml" Id="R820623134a8a43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dca5d844b84493" /><Relationship Type="http://schemas.openxmlformats.org/officeDocument/2006/relationships/notesMaster" Target="/ppt/notesMasters/notesMaster1.xml" Id="Rc6c29138325245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f09caf862f41c1" /><Relationship Type="http://schemas.openxmlformats.org/officeDocument/2006/relationships/notesMaster" Target="/ppt/notesMasters/notesMaster1.xml" Id="R8ac0b7f5f0134e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6863ced27f43f1" /><Relationship Type="http://schemas.openxmlformats.org/officeDocument/2006/relationships/notesMaster" Target="/ppt/notesMasters/notesMaster1.xml" Id="R719b268ccad341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49dccd62b941bf" /><Relationship Type="http://schemas.openxmlformats.org/officeDocument/2006/relationships/notesMaster" Target="/ppt/notesMasters/notesMaster1.xml" Id="R905a3920c3cf4c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6f538ce6264768" /><Relationship Type="http://schemas.openxmlformats.org/officeDocument/2006/relationships/notesMaster" Target="/ppt/notesMasters/notesMaster1.xml" Id="R785e79824af445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731cb37cf24e47" /><Relationship Type="http://schemas.openxmlformats.org/officeDocument/2006/relationships/notesMaster" Target="/ppt/notesMasters/notesMaster1.xml" Id="Re8fa90aeadf244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1ccf45cfbe4a91" /><Relationship Type="http://schemas.openxmlformats.org/officeDocument/2006/relationships/notesMaster" Target="/ppt/notesMasters/notesMaster1.xml" Id="R96506078781846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6c9ecffc4b472b" /><Relationship Type="http://schemas.openxmlformats.org/officeDocument/2006/relationships/notesMaster" Target="/ppt/notesMasters/notesMaster1.xml" Id="Ra7145c933e6c4e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1f793032924efd" /><Relationship Type="http://schemas.openxmlformats.org/officeDocument/2006/relationships/notesMaster" Target="/ppt/notesMasters/notesMaster1.xml" Id="R5c508f5f5ac244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630120afc744437" /><Relationship Type="http://schemas.openxmlformats.org/officeDocument/2006/relationships/notesMaster" Target="/ppt/notesMasters/notesMaster1.xml" Id="Rb214860ef96f42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https://www.datascienceportfol.io/karnaksp</a:t>
            </a:r>
          </a:p>
          <a:p xmlns:a="http://schemas.openxmlformats.org/drawingml/2006/main">
            <a:r>
              <a:t>- https://www.datascienceportfol.io/static/profile_pics/pr0_E3153937B96DB3A35FB6.jpg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https://www.datascienceportfol.io/karnaksp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https://www.datascienceportfol.io/karnaksp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https://www.datascienceportfol.io/karnaksp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https://www.datascienceportfol.io/karnaksp/projects/11</a:t>
            </a:r>
          </a:p>
          <a:p xmlns:a="http://schemas.openxmlformats.org/drawingml/2006/main">
            <a:r>
              <a:t>- https://github.com/karnaksp/investment-signals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https://www.datascienceportfol.io/karnaksp/projects/13</a:t>
            </a:r>
          </a:p>
          <a:p xmlns:a="http://schemas.openxmlformats.org/drawingml/2006/main">
            <a:r>
              <a:t>- https://github.com/karnaksp/data-forge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https://www.datascienceportfol.io/karnaksp/projects/16</a:t>
            </a:r>
          </a:p>
          <a:p xmlns:a="http://schemas.openxmlformats.org/drawingml/2006/main">
            <a:r>
              <a:t>- https://github.com/karnaksp/streamify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https://www.datascienceportfol.io/karnaksp/projects/14</a:t>
            </a:r>
          </a:p>
          <a:p xmlns:a="http://schemas.openxmlformats.org/drawingml/2006/main">
            <a:r>
              <a:t>- https://github.com/karnaksp/dbt-af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https://www.datascienceportfol.io/karnaksp/projects/12</a:t>
            </a:r>
          </a:p>
          <a:p xmlns:a="http://schemas.openxmlformats.org/drawingml/2006/main">
            <a:r>
              <a:t>- https://github.com/karnaksp/stock-prices</a:t>
            </a:r>
          </a:p>
          <a:p xmlns:a="http://schemas.openxmlformats.org/drawingml/2006/main">
            <a:r>
              <a:t>- https://karnaksp.github.io/stock-prices/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https://www.datascienceportfol.io/karnaksp/projects/0</a:t>
            </a:r>
          </a:p>
          <a:p xmlns:a="http://schemas.openxmlformats.org/drawingml/2006/main">
            <a:r>
              <a:t>- https://www.datascienceportfol.io/karnaksp/projects/1</a:t>
            </a:r>
          </a:p>
          <a:p xmlns:a="http://schemas.openxmlformats.org/drawingml/2006/main">
            <a:r>
              <a:t>- https://www.datascienceportfol.io/karnaksp/projects/10</a:t>
            </a:r>
          </a:p>
          <a:p xmlns:a="http://schemas.openxmlformats.org/drawingml/2006/main">
            <a:r>
              <a:t>- https://github.com/akscent/Hacks/tree/main/AgroCodeDS2023</a:t>
            </a:r>
          </a:p>
          <a:p xmlns:a="http://schemas.openxmlformats.org/drawingml/2006/main">
            <a:r>
              <a:t>- https://github.com/akscent/Hacks/tree/main/Sibur-Challenge</a:t>
            </a:r>
          </a:p>
          <a:p xmlns:a="http://schemas.openxmlformats.org/drawingml/2006/main">
            <a:r>
              <a:t>- https://github.com/Neftekod/Oil-code/tree/main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https://www.datascienceportfol.io/karnaksp/projects/7</a:t>
            </a:r>
          </a:p>
          <a:p xmlns:a="http://schemas.openxmlformats.org/drawingml/2006/main">
            <a:r>
              <a:t>- https://www.datascienceportfol.io/karnaksp/projects/8</a:t>
            </a:r>
          </a:p>
          <a:p xmlns:a="http://schemas.openxmlformats.org/drawingml/2006/main">
            <a:r>
              <a:t>- https://github.com/karnaksp/Educational-projects</a:t>
            </a:r>
          </a:p>
          <a:p xmlns:a="http://schemas.openxmlformats.org/drawingml/2006/main">
            <a:r>
              <a:t>- https://github.com/akscent/internships/tree/main/CoalCompany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https://www.datascienceportfol.io/karnaksp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https://www.datascienceportfol.io/karnaksp</a:t>
            </a:r>
          </a:p>
          <a:p xmlns:a="http://schemas.openxmlformats.org/drawingml/2006/main">
            <a:r>
              <a:t>- https://github.com/karnaksp</a:t>
            </a:r>
          </a:p>
          <a:p xmlns:a="http://schemas.openxmlformats.org/drawingml/2006/main">
            <a:r>
              <a:t>- https://karnaksp.github.io/karnaksp/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f884de0a0f40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4ed83d11dc45f5" /><Relationship Type="http://schemas.openxmlformats.org/officeDocument/2006/relationships/slideLayout" Target="/ppt/slideLayouts/slideLayout1.xml" Id="Rc0fed979970b48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fed979970b48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41a10192845e4" /><Relationship Type="http://schemas.openxmlformats.org/officeDocument/2006/relationships/hyperlink" Target="https://github.com/karnaksp" TargetMode="External" Id="R80ebeb41c978410f" /><Relationship Type="http://schemas.openxmlformats.org/officeDocument/2006/relationships/image" Target="/ppt/media/image.jpeg" Id="R8942ac08370f49ad" /><Relationship Type="http://schemas.openxmlformats.org/officeDocument/2006/relationships/notesSlide" Target="/ppt/notesSlides/notesSlide1.xml" Id="Rfb724193895e4e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8bc1910f94182" /><Relationship Type="http://schemas.openxmlformats.org/officeDocument/2006/relationships/notesSlide" Target="/ppt/notesSlides/notesSlide2.xml" Id="Rcfa06891e02c45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88b5c6dcc49e7" /><Relationship Type="http://schemas.openxmlformats.org/officeDocument/2006/relationships/notesSlide" Target="/ppt/notesSlides/notesSlide3.xml" Id="Rd3c8e7576c8b48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2fd620193472a" /><Relationship Type="http://schemas.openxmlformats.org/officeDocument/2006/relationships/notesSlide" Target="/ppt/notesSlides/notesSlide4.xml" Id="Rf4e409b29a6547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166af59d94297" /><Relationship Type="http://schemas.openxmlformats.org/officeDocument/2006/relationships/hyperlink" Target="https://github.com/karnaksp/investment-signals" TargetMode="External" Id="Rd35a863bffd745ed" /><Relationship Type="http://schemas.openxmlformats.org/officeDocument/2006/relationships/notesSlide" Target="/ppt/notesSlides/notesSlide5.xml" Id="Rdc39389e2f5841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ec8c2eccb4ea4" /><Relationship Type="http://schemas.openxmlformats.org/officeDocument/2006/relationships/hyperlink" Target="https://github.com/karnaksp/data-forge" TargetMode="External" Id="R094df3c8e5984f48" /><Relationship Type="http://schemas.openxmlformats.org/officeDocument/2006/relationships/notesSlide" Target="/ppt/notesSlides/notesSlide6.xml" Id="R8b2a8cd529434a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8fa2c65d84111" /><Relationship Type="http://schemas.openxmlformats.org/officeDocument/2006/relationships/hyperlink" Target="https://github.com/karnaksp/streamify" TargetMode="External" Id="R8828465cf0ad454c" /><Relationship Type="http://schemas.openxmlformats.org/officeDocument/2006/relationships/notesSlide" Target="/ppt/notesSlides/notesSlide7.xml" Id="R5959c313805243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21928fa2a4e7c" /><Relationship Type="http://schemas.openxmlformats.org/officeDocument/2006/relationships/hyperlink" Target="https://github.com/karnaksp/dbt-af" TargetMode="External" Id="Rdba049c6a7e242ec" /><Relationship Type="http://schemas.openxmlformats.org/officeDocument/2006/relationships/notesSlide" Target="/ppt/notesSlides/notesSlide8.xml" Id="Rfcd45d3df9314e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1fc43ac3341b4" /><Relationship Type="http://schemas.openxmlformats.org/officeDocument/2006/relationships/hyperlink" Target="https://github.com/karnaksp/stock-prices" TargetMode="External" Id="Rfe0e73aced314763" /><Relationship Type="http://schemas.openxmlformats.org/officeDocument/2006/relationships/notesSlide" Target="/ppt/notesSlides/notesSlide9.xml" Id="R8535bfc3145a45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9ca2b21174c12" /><Relationship Type="http://schemas.openxmlformats.org/officeDocument/2006/relationships/image" Target="/ppt/media/image.png" Id="Rd9cafbdceee145be" /><Relationship Type="http://schemas.openxmlformats.org/officeDocument/2006/relationships/image" Target="/ppt/media/image2.png" Id="R93b443f16c2f42d8" /><Relationship Type="http://schemas.openxmlformats.org/officeDocument/2006/relationships/image" Target="/ppt/media/image3.png" Id="Rb2b19e562a8f43a1" /><Relationship Type="http://schemas.openxmlformats.org/officeDocument/2006/relationships/notesSlide" Target="/ppt/notesSlides/notesSlide10.xml" Id="R71a8c61b5b6a47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e4e4f50194bc6" /><Relationship Type="http://schemas.openxmlformats.org/officeDocument/2006/relationships/image" Target="/ppt/media/image4.png" Id="Rb9ac592d86c24909" /><Relationship Type="http://schemas.openxmlformats.org/officeDocument/2006/relationships/image" Target="/ppt/media/image2.jpeg" Id="R9a9fb954c1574570" /><Relationship Type="http://schemas.openxmlformats.org/officeDocument/2006/relationships/notesSlide" Target="/ppt/notesSlides/notesSlide11.xml" Id="R31ee201064ff45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cb4ae6ef04d89" /><Relationship Type="http://schemas.openxmlformats.org/officeDocument/2006/relationships/notesSlide" Target="/ppt/notesSlides/notesSlide12.xml" Id="Rd5ae759568534fc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c18c6aee94c0b" /><Relationship Type="http://schemas.openxmlformats.org/officeDocument/2006/relationships/hyperlink" Target="https://karnaksp.github.io/karnaksp/" TargetMode="External" Id="R6862ae15558c4198" /><Relationship Type="http://schemas.openxmlformats.org/officeDocument/2006/relationships/hyperlink" Target="https://github.com/karnaksp" TargetMode="External" Id="R24b19e4cadce4070" /><Relationship Type="http://schemas.openxmlformats.org/officeDocument/2006/relationships/hyperlink" Target="mailto:irinyakov2016@yandex.ru" TargetMode="External" Id="R09858b88f16d4a65" /><Relationship Type="http://schemas.openxmlformats.org/officeDocument/2006/relationships/notesSlide" Target="/ppt/notesSlides/notesSlide13.xml" Id="R417af7c2901442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D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C6AEA-20E6-46BF-9B1A-0341C283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74F88-6C1C-4F9F-8718-EC8BA579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A0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A0FF"/>
                </a:solidFill>
                <a:latin typeface="Arial"/>
                <a:ea typeface="Arial"/>
                <a:cs typeface="Arial"/>
              </a:rPr>
              <a:t>PORTFOLIO  / 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28AAA-B045-438B-9C56-266EA973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58102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59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Denis</a:t>
            </a:r>
          </a:p>
          <a:p xmlns:a="http://schemas.openxmlformats.org/drawingml/2006/main">
            <a: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Irinyakov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BC21A-9670-413C-8C18-3C78D894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B8E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6B8E6"/>
                </a:solidFill>
                <a:latin typeface="Arial"/>
                <a:ea typeface="Arial"/>
                <a:cs typeface="Arial"/>
              </a:rPr>
              <a:t>Data Engineer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834F0-374A-468C-A162-37F059C6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561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DE2F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DE2F6"/>
                </a:solidFill>
                <a:latin typeface="Arial"/>
                <a:ea typeface="Arial"/>
                <a:cs typeface="Arial"/>
              </a:rPr>
              <a:t>Reliable pipelines, streaming systems, analytical data layers, and ML project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5B5CD-A796-4CB4-837B-10EFE7E6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2D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AB2D1"/>
                </a:solidFill>
                <a:latin typeface="Arial"/>
                <a:ea typeface="Arial"/>
                <a:cs typeface="Arial"/>
              </a:rPr>
              <a:t>Moscow / Remote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FDDF6-9495-43FB-B6D6-3963341F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FA0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FA0FF"/>
                </a:solidFill>
                <a:latin typeface="Arial"/>
                <a:ea typeface="Arial"/>
                <a:cs typeface="Arial"/>
                <a:hlinkClick xmlns:r="http://schemas.openxmlformats.org/officeDocument/2006/relationships" r:id="R80ebeb41c978410f"/>
              </a:rPr>
              <a:t>github.com/karnaksp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42ac08370f49ad"/>
          <a:srcRect xmlns:a="http://schemas.openxmlformats.org/drawingml/2006/main" l="25078" t="0" r="250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7150" y="723900"/>
            <a:ext cx="3790950" cy="5067300"/>
          </a:xfrm>
          <a:prstGeom xmlns:a="http://schemas.openxmlformats.org/drawingml/2006/main" prst="roundRect">
            <a:avLst>
              <a:gd name="adj" fmla="val 703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999B9-04CA-43F8-B2C3-E849C387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7200"/>
            <a:ext cx="3790950" cy="5067300"/>
          </a:xfrm>
          <a:prstGeom xmlns:a="http://schemas.openxmlformats.org/drawingml/2006/main" prst="roundRect">
            <a:avLst>
              <a:gd name="adj" fmla="val 7035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2638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698190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971DCA-2002-40E7-A31E-7E54C9EF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8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8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9D7E2-3DF8-455E-8F36-39A66DB9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I build data systems across the full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C047D-B1D0-457C-B9B9-67FD5EF4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0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8708A"/>
                </a:solidFill>
                <a:latin typeface="Arial"/>
                <a:ea typeface="Arial"/>
                <a:cs typeface="Arial"/>
              </a:rPr>
              <a:t>From ingestion to product use, with reliability and documentation in 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900C2-A85C-42CD-8A11-AC7A4B89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46291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I am a data engineer with experience in analytics, backend development, and ML projects. My focus is reliable ETL/ELT, event streaming, analytical DWH/lakehouse layers, data quality, observability, and clear operational documentation.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758A1-EE19-4A75-96CC-9A8A6F98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4629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38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638FF"/>
                </a:solidFill>
                <a:latin typeface="Arial"/>
                <a:ea typeface="Arial"/>
                <a:cs typeface="Arial"/>
              </a:rPr>
              <a:t>The projects show more than code: data contracts, run scenarios, checks, architecture, and constraints.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547D7-8123-4D0C-9BB3-C9AD34EF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718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D8DC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EE15A1-80E0-45B4-B458-C511764D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43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8FF"/>
          </a:solidFill>
          <a:ln xmlns:a="http://schemas.openxmlformats.org/drawingml/2006/main" w="28575">
            <a:solidFill>
              <a:srgbClr val="2638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FCBF6C-9548-4D05-9094-B4900751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76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00FBEC-0BD6-4B66-93C6-8131891B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052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Ingest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22FD6-A8A0-49BC-AFEB-E512B9A4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43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63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E72D58-EA35-4D63-A519-8D2937A5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76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63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8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EC52FE-21E6-4D50-83AF-8B5F1B7E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052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Transform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0B7BE0-5103-4F97-8F96-69832871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43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638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EB5956-ADE6-4B1A-8778-90BE1FF0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76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63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8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F88367-BDD7-4701-B85D-52D01CEB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052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90F49D-DBB0-4279-9343-D7CA6467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43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638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4896F4-A69C-4B3B-A197-75D8029B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76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63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8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DF28EE-B61E-448E-940C-207B7AB0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052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Store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C1E2E6-A660-41DA-9722-FE3AAF25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743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638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09C58F-D359-4267-AF8C-43C516FD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76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63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8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34A2A1-AFF5-43C4-8A8E-AA9A07E9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052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B19595-F4C4-4C9B-9A4C-B24BCAEE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743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8FF"/>
          </a:solidFill>
          <a:ln xmlns:a="http://schemas.openxmlformats.org/drawingml/2006/main" w="28575">
            <a:solidFill>
              <a:srgbClr val="2638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46CC51-D67F-4681-8B00-C2739039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876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C07614-EFCA-48D3-B744-A8CE7692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5052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Serve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6DD482-8178-4FAA-A20F-D008E4E1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62450"/>
            <a:ext cx="4933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8235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A complete data path, not an isolated task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50EBEF-E7E7-46D5-94A4-D6294C31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870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8708A"/>
                </a:solidFill>
                <a:latin typeface="Arial"/>
                <a:ea typeface="Arial"/>
                <a:cs typeface="Arial"/>
              </a:rPr>
              <a:t>DENIS IRINYAKOV  /  DATA ENGINEER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A7890B-EA29-4A48-A758-2566F85D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0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8708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226938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A3D3CB-4661-49B0-A6A7-11236850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8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8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C970D-E2E3-4BA7-A8FA-F98B4732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The toolkit spans data systems and 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FF63A-6089-4972-9DAB-DC4F0D22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0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8708A"/>
                </a:solidFill>
                <a:latin typeface="Arial"/>
                <a:ea typeface="Arial"/>
                <a:cs typeface="Arial"/>
              </a:rPr>
              <a:t>Grouped from the skills listed in the source portfolio.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89BEB-2FEE-4724-8EFD-3780C8F9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6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7062D-2FAF-4BEF-A0DC-71197E41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Pipelines &amp; orchestration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BDFF9-0D09-414B-AB06-3B054813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23241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Airflow</a:t>
            </a:r>
          </a:p>
          <a:p xmlns:a="http://schemas.openxmlformats.org/drawingml/2006/main">
            <a:pPr algn="l">
              <a:defRPr sz="180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Dagster</a:t>
            </a:r>
          </a:p>
          <a:p xmlns:a="http://schemas.openxmlformats.org/drawingml/2006/main">
            <a:pPr algn="l">
              <a:defRPr sz="180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dbt</a:t>
            </a:r>
          </a:p>
          <a:p xmlns:a="http://schemas.openxmlformats.org/drawingml/2006/main">
            <a:pPr algn="l">
              <a:defRPr sz="180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SQLMesh</a:t>
            </a:r>
          </a:p>
          <a:p xmlns:a="http://schemas.openxmlformats.org/drawingml/2006/main">
            <a:pPr algn="l">
              <a:defRPr sz="180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ETL / ELT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84925-B8C7-43C3-BEEB-1AB429BA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33600"/>
            <a:ext cx="66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2725E-4EBB-4FFC-B85F-74688FDC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3360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Streaming &amp; processing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C4393-D8C8-4C5E-A338-22B2BDE5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05150"/>
            <a:ext cx="23241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Kafka</a:t>
            </a:r>
          </a:p>
          <a:p xmlns:a="http://schemas.openxmlformats.org/drawingml/2006/main">
            <a:pPr algn="l">
              <a:defRPr sz="180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Redpanda</a:t>
            </a:r>
          </a:p>
          <a:p xmlns:a="http://schemas.openxmlformats.org/drawingml/2006/main">
            <a:pPr algn="l">
              <a:defRPr sz="180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Spark</a:t>
            </a:r>
          </a:p>
          <a:p xmlns:a="http://schemas.openxmlformats.org/drawingml/2006/main">
            <a:pPr algn="l">
              <a:defRPr sz="180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Debezium</a:t>
            </a:r>
          </a:p>
          <a:p xmlns:a="http://schemas.openxmlformats.org/drawingml/2006/main">
            <a:pPr algn="l">
              <a:defRPr sz="180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CDC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E61D0-9FED-458F-B477-6F7AE79A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33600"/>
            <a:ext cx="66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9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B95945-DC51-4158-990A-96104D8C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3360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Data platforms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824710-A4A5-4C3D-91FE-9C26CD41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05150"/>
            <a:ext cx="23241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l">
              <a:defRPr sz="180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ClickHouse</a:t>
            </a:r>
          </a:p>
          <a:p xmlns:a="http://schemas.openxmlformats.org/drawingml/2006/main">
            <a:pPr algn="l">
              <a:defRPr sz="180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Greenplum</a:t>
            </a:r>
          </a:p>
          <a:p xmlns:a="http://schemas.openxmlformats.org/drawingml/2006/main">
            <a:pPr algn="l">
              <a:defRPr sz="180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BigQuery</a:t>
            </a:r>
          </a:p>
          <a:p xmlns:a="http://schemas.openxmlformats.org/drawingml/2006/main">
            <a:pPr algn="l">
              <a:defRPr sz="180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MinIO / S3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E70C5-1BF9-4C2F-BEE1-741C92B3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33600"/>
            <a:ext cx="66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5E982C-BF77-4397-B2FF-E0A427AF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Engineering &amp; delivery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53025F-5C3B-4463-B984-58D00200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05150"/>
            <a:ext cx="23241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Python + SQL</a:t>
            </a:r>
          </a:p>
          <a:p xmlns:a="http://schemas.openxmlformats.org/drawingml/2006/main">
            <a:pPr algn="l">
              <a:defRPr sz="180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Bash + PL/pgSQL</a:t>
            </a:r>
          </a:p>
          <a:p xmlns:a="http://schemas.openxmlformats.org/drawingml/2006/main">
            <a:pPr algn="l">
              <a:defRPr sz="180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Docker + CI</a:t>
            </a:r>
          </a:p>
          <a:p xmlns:a="http://schemas.openxmlformats.org/drawingml/2006/main">
            <a:pPr algn="l">
              <a:defRPr sz="180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FastAPI + CLI</a:t>
            </a:r>
          </a:p>
          <a:p xmlns:a="http://schemas.openxmlformats.org/drawingml/2006/main">
            <a:pPr algn="l">
              <a:defRPr sz="180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Data quality + observability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87A6E9-3083-483C-8F83-51E5F510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870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8708A"/>
                </a:solidFill>
                <a:latin typeface="Arial"/>
                <a:ea typeface="Arial"/>
                <a:cs typeface="Arial"/>
              </a:rPr>
              <a:t>DENIS IRINYAKOV  /  DATA ENGINEER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2169F9-7FD7-4600-BAAC-DEAEF2DA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0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8708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505571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958A06-1682-4A20-84A9-BAF19400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8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8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05570-BA60-41C9-B446-0C5E4AFD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Four engineering projects anchor the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6DF68-91F3-45FB-A794-69569B85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0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8708A"/>
                </a:solidFill>
                <a:latin typeface="Arial"/>
                <a:ea typeface="Arial"/>
                <a:cs typeface="Arial"/>
              </a:rPr>
              <a:t>Each covers a distinct point in the path from events to usable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47DA8-4EE7-40EB-BD9E-AE2F33C5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C9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C9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FBFE7-8538-42F0-B5A5-B7B3E9AB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336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investment-signals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C5D3F1-9870-4929-801A-A44A881E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526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Real-time market data collection, validation, storage, API, and Telegram delivery.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2AEBC5-F118-416E-83CC-6D9423CC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146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C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326FB-E230-4125-AF80-2AC21F82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4C4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4C4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5535A-6173-42B2-8364-12CCAA7B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242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data-forge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B252C8-5F1E-44FD-8553-66396157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432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Retail CDC pipeline from PostgreSQL through streaming processing to analytical layers.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7A3AD9-9274-41CB-8E9F-A910DC6A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052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C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50097-9AF3-4F9D-AE25-9968003A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B8E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B8E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9167BD-3586-4B27-A9F6-EB5FF149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148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streamify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693867-C35E-4659-B17D-F1A8BC34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338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Music-service event analytics with Kafka, Spark Streaming, Airflow, dbt, and BigQuery.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B26C18-8DEA-42F4-BB22-2516F214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958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C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922959-4B57-4FD4-A2CC-41939441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E91067-11DA-4A77-A511-155F2689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054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dbt-af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040ABF-B0EA-41BB-941F-AB46E7DA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244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A reproducible and testable path for running dbt models from Airflow.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4B62B4-D541-4C90-9995-E15A2941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115050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8FF"/>
                </a:solidFill>
                <a:latin typeface="Arial"/>
                <a:ea typeface="Arial"/>
                <a:cs typeface="Arial"/>
              </a:rPr>
              <a:t>Six additional projects extend the story into market visualizations, ML hackathons, C/C++, and document automation.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1D7A74-8513-49F1-B296-E7C6342D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870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8708A"/>
                </a:solidFill>
                <a:latin typeface="Arial"/>
                <a:ea typeface="Arial"/>
                <a:cs typeface="Arial"/>
              </a:rPr>
              <a:t>DENIS IRINYAKOV  /  DATA ENGINEER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749BF7-3A37-44AD-8C05-AEC7565D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0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8708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769814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D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1E268B-8E00-4380-8318-3F1EE61E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C9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C9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C9ED6-7B4D-4D90-9373-EF2F7169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investment-signals observes market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CB3F9-B352-4562-B54A-3CCB3A0B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AB2D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AB2D1"/>
                </a:solidFill>
                <a:latin typeface="Arial"/>
                <a:ea typeface="Arial"/>
                <a:cs typeface="Arial"/>
              </a:rPr>
              <a:t>Collection, validation, history, and delivery in one service.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1E4CD-F3C9-44DE-81AA-715CAC9C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2566988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833"/>
          </a:solidFill>
          <a:ln xmlns:a="http://schemas.openxmlformats.org/drawingml/2006/main" w="19050">
            <a:solidFill>
              <a:srgbClr val="18C978">
                <a:alpha val="66667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B729C-88D7-40D2-BA50-F71D845D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C9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C9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DBA07-2BFF-479E-A3C4-E90C9213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2224088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Broker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07ECD-6A13-4EA6-B8DD-CD492EE1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2247900"/>
            <a:ext cx="2566988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833"/>
          </a:solidFill>
          <a:ln xmlns:a="http://schemas.openxmlformats.org/drawingml/2006/main" w="19050">
            <a:solidFill>
              <a:srgbClr val="18C978">
                <a:alpha val="66667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985EE7-A6B8-4B54-9426-85348D81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C9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C9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4D6837-BF20-448D-BAD2-1065B026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2667000"/>
            <a:ext cx="2224088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Kafka / Redpanda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1617A-4664-4444-973A-3918AB92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47900"/>
            <a:ext cx="2566988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833"/>
          </a:solidFill>
          <a:ln xmlns:a="http://schemas.openxmlformats.org/drawingml/2006/main" w="19050">
            <a:solidFill>
              <a:srgbClr val="18C978">
                <a:alpha val="66667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9415B6-DF22-473C-A8DF-883AD755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C9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C9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A8AEF-DCCA-4831-BAA5-647A37E0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67000"/>
            <a:ext cx="2224088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12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ClickHouse + PostgreSQL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D9A6A9-DDF8-4830-82FF-7F8FE00C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247900"/>
            <a:ext cx="2566988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833"/>
          </a:solidFill>
          <a:ln xmlns:a="http://schemas.openxmlformats.org/drawingml/2006/main" w="19050">
            <a:solidFill>
              <a:srgbClr val="18C978">
                <a:alpha val="66667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C1C51C-956F-4889-A307-92D6FCFE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C9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C9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5FD5DD-0AF5-4CF8-B0EB-E7C8E48E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667000"/>
            <a:ext cx="2224088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 + Telegram</a:t>
            </a:r>
          </a:p>
        </p:txBody>
      </p:sp>
      <p:cxnSp>
        <p:nvCxnSpPr>
          <p:cNvPr id="44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71838" y="27432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8C978"/>
            </a:solidFill>
            <a:prstDash val="solid"/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010276" y="2743200"/>
            <a:ext cx="17144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8C978"/>
            </a:solidFill>
            <a:prstDash val="solid"/>
            <a:tailEnd type="arrow" w="sm" len="sm"/>
          </a:ln>
        </p:spPr>
      </p:cxnSp>
      <p:cxnSp>
        <p:nvCxnSpPr>
          <p:cNvPr id="46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748713" y="27432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8C978"/>
            </a:solidFill>
            <a:prstDash val="solid"/>
            <a:tailEnd type="arrow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03E72E-1CF1-4AC9-BA31-A07C021B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9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3CEC15-2021-4A5D-82FC-A95B2BEB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C9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C978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EE9F1B-6536-4F17-BEC8-76133CD0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24325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2F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2F6"/>
                </a:solidFill>
                <a:latin typeface="Arial"/>
                <a:ea typeface="Arial"/>
                <a:cs typeface="Arial"/>
              </a:rPr>
              <a:t>Collect and validate quotes and events in real time.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F8B478-007F-4A28-A175-40AF2446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9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8A0405-D463-4383-B2FC-EDCE43D4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0000"/>
            <a:ext cx="506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C9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C978"/>
                </a:solidFill>
                <a:latin typeface="Arial"/>
                <a:ea typeface="Arial"/>
                <a:cs typeface="Arial"/>
              </a:rPr>
              <a:t>PRACTICAL VALUE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9AABB3-7C17-4F22-9153-27ACF991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24325"/>
            <a:ext cx="506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2F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2F6"/>
                </a:solidFill>
                <a:latin typeface="Arial"/>
                <a:ea typeface="Arial"/>
                <a:cs typeface="Arial"/>
              </a:rPr>
              <a:t>Notice market deviations and ingestion failures sooner while retaining calculation history.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94091C-B7A7-4C3E-B815-384BEA61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78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A0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A0FF"/>
                </a:solidFill>
                <a:latin typeface="Arial"/>
                <a:ea typeface="Arial"/>
                <a:cs typeface="Arial"/>
              </a:rPr>
              <a:t>Python  /  Kafka  /  Redpanda  /  ClickHouse  /  PostgreSQL  /  FastAPI  /  Dagster  /  Grafana  /  Docker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BC1662-5E72-453C-A836-65FC4A63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FA0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FA0FF"/>
                </a:solidFill>
                <a:latin typeface="Arial"/>
                <a:ea typeface="Arial"/>
                <a:cs typeface="Arial"/>
                <a:hlinkClick xmlns:r="http://schemas.openxmlformats.org/officeDocument/2006/relationships" r:id="Rd35a863bffd745ed"/>
              </a:rPr>
              <a:t>github.com/karnaksp/investment-signals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3A1D30-C9DD-4E32-9E06-3A729AE8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9A2C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9A2C6"/>
                </a:solidFill>
                <a:latin typeface="Arial"/>
                <a:ea typeface="Arial"/>
                <a:cs typeface="Arial"/>
              </a:rPr>
              <a:t>DENIS IRINYAKOV  /  DATA ENGINEER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F68CAA-1520-40D1-BFFF-E6CF13E5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9A2C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9A2C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486121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734D77-492C-4BEC-B122-54341949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4C4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4C4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7787D-784B-481C-BA53-F480B01E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data-forge builds a complete retail CDC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87232-119A-4652-9D75-B32750F4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0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8708A"/>
                </a:solidFill>
                <a:latin typeface="Arial"/>
                <a:ea typeface="Arial"/>
                <a:cs typeface="Arial"/>
              </a:rPr>
              <a:t>An applied learning environment for a complete CDC pipeline.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A00D1-5973-4655-BD7E-96935E4F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2566988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9A560-A684-4E8F-B290-B1F43AFB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4C4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4C4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C9D0A-4A6C-4C2B-A0ED-EAD149E2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2224088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1B8D7-7685-45BB-8FD4-475F92CD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2247900"/>
            <a:ext cx="2566988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99C86-6D0A-411B-BD08-5EF43354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4C4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4C4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075D1-2769-4867-9CA4-9029F273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2667000"/>
            <a:ext cx="2224088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Debezium + Kafka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3F3B1-2DF8-4C4A-AF29-CF1B8FE8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47900"/>
            <a:ext cx="2566988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123F8-1E6B-4300-B50E-B2D658A2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4C4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4C4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6D905-6A8E-405B-9E93-5598B8A4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67000"/>
            <a:ext cx="2224088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Spark + Trino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774FEE-16FF-4213-8DDF-4A03EEE5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247900"/>
            <a:ext cx="2566988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74D60B-527C-4FBE-92C9-1EBEE52B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4C4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4C4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9CEE05-1DB3-4CF5-802D-F6CC8309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667000"/>
            <a:ext cx="2224088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ClickHouse + BI</a:t>
            </a:r>
          </a:p>
        </p:txBody>
      </p:sp>
      <p:cxnSp>
        <p:nvCxnSpPr>
          <p:cNvPr id="44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71838" y="27432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4C4C"/>
            </a:solidFill>
            <a:prstDash val="solid"/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010276" y="2743200"/>
            <a:ext cx="17144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4C4C"/>
            </a:solidFill>
            <a:prstDash val="solid"/>
            <a:tailEnd type="arrow" w="sm" len="sm"/>
          </a:ln>
        </p:spPr>
      </p:cxnSp>
      <p:cxnSp>
        <p:nvCxnSpPr>
          <p:cNvPr id="46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748713" y="27432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4C4C"/>
            </a:solidFill>
            <a:prstDash val="solid"/>
            <a:tailEnd type="arrow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11EC3A-0CF3-40ED-B032-A2F7BA3A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F59844-AD42-43D4-90F8-9374225F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4C4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4C4C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AD0156-4D08-4BD4-8274-EE0E05E6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24325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Stream changes from a retail transactional database into processing and analytical layers.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8CC7CB-3D6D-41EA-B796-8091C9D3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B78A32-AF15-431A-A962-BA69C0EA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0000"/>
            <a:ext cx="506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4C4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4C4C"/>
                </a:solidFill>
                <a:latin typeface="Arial"/>
                <a:ea typeface="Arial"/>
                <a:cs typeface="Arial"/>
              </a:rPr>
              <a:t>PRACTICAL VALUE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B4A06B-86C3-4ADA-867B-33D43FA8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24325"/>
            <a:ext cx="506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Show the full path from source transactions to validated data marts and reports.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CB6D84-0B23-4E2B-B626-06CD4038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78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8FF"/>
                </a:solidFill>
                <a:latin typeface="Arial"/>
                <a:ea typeface="Arial"/>
                <a:cs typeface="Arial"/>
              </a:rPr>
              <a:t>PostgreSQL  /  Debezium  /  Kafka  /  Spark  /  Trino  /  MinIO  /  ClickHouse  /  Airflow  /  Superset  /  Docker Compose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131FDA-AF35-40F6-9703-FD49D9D4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8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8FF"/>
                </a:solidFill>
                <a:latin typeface="Arial"/>
                <a:ea typeface="Arial"/>
                <a:cs typeface="Arial"/>
                <a:hlinkClick xmlns:r="http://schemas.openxmlformats.org/officeDocument/2006/relationships" r:id="R094df3c8e5984f48"/>
              </a:rPr>
              <a:t>github.com/karnaksp/data-forge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E45CB4-9176-464F-97DF-FB183AB4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870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8708A"/>
                </a:solidFill>
                <a:latin typeface="Arial"/>
                <a:ea typeface="Arial"/>
                <a:cs typeface="Arial"/>
              </a:rPr>
              <a:t>DENIS IRINYAKOV  /  DATA ENGINEER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3FED4A-E79C-496E-B924-60613629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0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8708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05770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D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C5F9B5-5432-404A-95BE-CA896D31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B8E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B8E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F5C16-6B67-4D21-9166-A074101D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streamify turns listening events into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E9DF3-86C8-4E90-8BD9-2CE7CBE4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AB2D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AB2D1"/>
                </a:solidFill>
                <a:latin typeface="Arial"/>
                <a:ea typeface="Arial"/>
                <a:cs typeface="Arial"/>
              </a:rPr>
              <a:t>Streaming, scheduled transformation, and data-mart checks.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4E1AC-5A6B-4ADE-A935-56220E63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20193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833"/>
          </a:solidFill>
          <a:ln xmlns:a="http://schemas.openxmlformats.org/drawingml/2006/main" w="19050">
            <a:solidFill>
              <a:srgbClr val="16B8E6">
                <a:alpha val="66667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BCF10-95B3-4CC1-8ADA-1FD0C9EA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B8E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B8E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D4E67-C8EF-4E83-84ED-230924AB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Listening events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CD928-5955-4327-AE15-C8E86325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47900"/>
            <a:ext cx="20193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833"/>
          </a:solidFill>
          <a:ln xmlns:a="http://schemas.openxmlformats.org/drawingml/2006/main" w="19050">
            <a:solidFill>
              <a:srgbClr val="16B8E6">
                <a:alpha val="66667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A4FED-64C6-4EB5-97C9-C21D5023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B8E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B8E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6197F-9CE1-4C8F-9B3E-EA4A5A7F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670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Kafka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E3C77-1496-4E3C-B37B-1272DE2B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47900"/>
            <a:ext cx="20193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833"/>
          </a:solidFill>
          <a:ln xmlns:a="http://schemas.openxmlformats.org/drawingml/2006/main" w="19050">
            <a:solidFill>
              <a:srgbClr val="16B8E6">
                <a:alpha val="66667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A87A07-B700-419C-B323-475267BF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B8E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B8E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12D06A-E161-4A08-8AAA-9E553BE5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670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Spark Streaming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4195D-4B8F-4634-BFE9-E362E685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47900"/>
            <a:ext cx="20193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833"/>
          </a:solidFill>
          <a:ln xmlns:a="http://schemas.openxmlformats.org/drawingml/2006/main" w="19050">
            <a:solidFill>
              <a:srgbClr val="16B8E6">
                <a:alpha val="66667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FD9A0F-67EC-45AF-86ED-30316490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B8E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B8E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0AF441-1581-4219-B438-A86CAB51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670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Airflow + dbt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CC0597-32AA-4173-8E52-078E7975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47900"/>
            <a:ext cx="20193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833"/>
          </a:solidFill>
          <a:ln xmlns:a="http://schemas.openxmlformats.org/drawingml/2006/main" w="19050">
            <a:solidFill>
              <a:srgbClr val="16B8E6">
                <a:alpha val="66667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66B580-3B88-4EAB-9A37-90482EA0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B8E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B8E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EDEEA8-F440-4C46-AEDF-7FD370AA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670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BigQuery</a:t>
            </a:r>
          </a:p>
        </p:txBody>
      </p:sp>
      <p:cxnSp>
        <p:nvCxnSpPr>
          <p:cNvPr id="51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724150" y="27432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B8E6"/>
            </a:solidFill>
            <a:prstDash val="solid"/>
            <a:tailEnd type="arrow" w="sm" len="sm"/>
          </a:ln>
        </p:spPr>
      </p:cxnSp>
      <p:cxnSp>
        <p:nvCxnSpPr>
          <p:cNvPr id="52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914900" y="27432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B8E6"/>
            </a:solidFill>
            <a:prstDash val="solid"/>
            <a:tailEnd type="arrow" w="sm" len="sm"/>
          </a:ln>
        </p:spPr>
      </p:cxnSp>
      <p:cxnSp>
        <p:nvCxnSpPr>
          <p:cNvPr id="53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105650" y="27432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B8E6"/>
            </a:solidFill>
            <a:prstDash val="solid"/>
            <a:tailEnd type="arrow" w="sm" len="sm"/>
          </a:ln>
        </p:spPr>
      </p:cxnSp>
      <p:cxnSp>
        <p:nvCxnSpPr>
          <p:cNvPr id="54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296400" y="27432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B8E6"/>
            </a:solidFill>
            <a:prstDash val="solid"/>
            <a:tail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0AB535-69D2-40FD-8A6C-2EAA3218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4A70DA-0B3B-4C9D-AE58-EE1A7067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B8E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B8E6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0D8DAB-47A9-417E-A3A2-B71EAB2E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24325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2F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2F6"/>
                </a:solidFill>
                <a:latin typeface="Arial"/>
                <a:ea typeface="Arial"/>
                <a:cs typeface="Arial"/>
              </a:rPr>
              <a:t>Build an analytics pipeline for music-service listening events.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088E79-599B-494A-BE09-EBC6EF30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D32AEC-E743-45F7-897B-0A1C60CF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0000"/>
            <a:ext cx="506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B8E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B8E6"/>
                </a:solidFill>
                <a:latin typeface="Arial"/>
                <a:ea typeface="Arial"/>
                <a:cs typeface="Arial"/>
              </a:rPr>
              <a:t>PRACTICAL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75F104-BDC2-4DD8-835D-8A169065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24325"/>
            <a:ext cx="506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2F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2F6"/>
                </a:solidFill>
                <a:latin typeface="Arial"/>
                <a:ea typeface="Arial"/>
                <a:cs typeface="Arial"/>
              </a:rPr>
              <a:t>Demonstrate event analytics where streaming, scheduling, and data-mart quality control all matter.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805313-EDE1-4BB0-B28D-F5345792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78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A0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A0FF"/>
                </a:solidFill>
                <a:latin typeface="Arial"/>
                <a:ea typeface="Arial"/>
                <a:cs typeface="Arial"/>
              </a:rPr>
              <a:t>Kafka  /  Spark Streaming  /  Airflow  /  dbt  /  BigQuery  /  Docker Compose  /  GitHub Actions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00E7F9-B01F-4B57-B58A-1E94ED4C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FA0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FA0FF"/>
                </a:solidFill>
                <a:latin typeface="Arial"/>
                <a:ea typeface="Arial"/>
                <a:cs typeface="Arial"/>
                <a:hlinkClick xmlns:r="http://schemas.openxmlformats.org/officeDocument/2006/relationships" r:id="R8828465cf0ad454c"/>
              </a:rPr>
              <a:t>github.com/karnaksp/streamify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684FB9-5F37-48E3-A499-3CA30E54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9A2C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9A2C6"/>
                </a:solidFill>
                <a:latin typeface="Arial"/>
                <a:ea typeface="Arial"/>
                <a:cs typeface="Arial"/>
              </a:rPr>
              <a:t>DENIS IRINYAKOV  /  DATA ENGINEER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310776-F58F-4885-B266-491FF645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9A2C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9A2C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198629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446E10-AFDE-417E-893E-F937AF5A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60129-85E5-4382-A285-CA9C20D7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dbt-af makes orchestration reliable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48C5E-5B1D-464A-88F7-DDBBAD71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0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8708A"/>
                </a:solidFill>
                <a:latin typeface="Arial"/>
                <a:ea typeface="Arial"/>
                <a:cs typeface="Arial"/>
              </a:rPr>
              <a:t>A focused project on repeatable, testable dbt execution from Airflow.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AD888-05AE-437A-8B48-42F31A4B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2566988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682BF5-0F42-4F2E-AA0D-DDDFAEC8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DE13A-658A-4EA9-A5D2-18566AC4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2224088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Airflow DAG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ED6F4-C281-4F4A-A441-C7BCA11A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2247900"/>
            <a:ext cx="2566988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CFEA4-DFB6-43F9-A4B9-7B189E8A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F19A2-A6FB-4B94-B0FB-9707FF4D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2667000"/>
            <a:ext cx="2224088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dbt models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AF2CDD-3733-45AC-B807-84027651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47900"/>
            <a:ext cx="2566988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4C3D3-332E-48D5-87AE-48116DC3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108101-607B-4BFB-A4B3-BDFD4EA1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67000"/>
            <a:ext cx="2224088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Regression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30ECBC-8726-4039-9363-325EB062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247900"/>
            <a:ext cx="2566988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6EA2C0-E610-427F-95BE-FDE7C0E4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9E059A-F43B-4C7C-864C-302E0C39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667000"/>
            <a:ext cx="2224088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Docker Compose + CI</a:t>
            </a:r>
          </a:p>
        </p:txBody>
      </p:sp>
      <p:cxnSp>
        <p:nvCxnSpPr>
          <p:cNvPr id="44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71838" y="27432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5CF6"/>
            </a:solidFill>
            <a:prstDash val="solid"/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010276" y="2743200"/>
            <a:ext cx="17144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5CF6"/>
            </a:solidFill>
            <a:prstDash val="solid"/>
            <a:tailEnd type="arrow" w="sm" len="sm"/>
          </a:ln>
        </p:spPr>
      </p:cxnSp>
      <p:cxnSp>
        <p:nvCxnSpPr>
          <p:cNvPr id="46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748713" y="27432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5CF6"/>
            </a:solidFill>
            <a:prstDash val="solid"/>
            <a:tailEnd type="arrow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B87E1C-059D-4D1C-9075-4D0A5295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D57A93-E355-414E-92DF-72963E23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WHAT CHANGED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696F0F-A2BA-4908-88E0-77AB10CD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24325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The manual-run scenario was corrected, checks were added, and the root cause was documented.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822CAB-05D4-4B8C-B1B3-4F23ED5A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B8B491-803F-4BDE-831F-6375CA8D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0000"/>
            <a:ext cx="506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PRACTICAL VALUE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9B02C7-2209-4859-A322-71652987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24325"/>
            <a:ext cx="506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Bring orchestration to a state that can be checked, repeated, and maintained.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52B0DD-9800-476C-957A-65DC3B9E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78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8FF"/>
                </a:solidFill>
                <a:latin typeface="Arial"/>
                <a:ea typeface="Arial"/>
                <a:cs typeface="Arial"/>
              </a:rPr>
              <a:t>Python  /  Airflow  /  dbt  /  Docker Compose  /  GitHub Actions  /  pytest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0BAB57-ECAA-446C-B2B2-A2D619D0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8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8FF"/>
                </a:solidFill>
                <a:latin typeface="Arial"/>
                <a:ea typeface="Arial"/>
                <a:cs typeface="Arial"/>
                <a:hlinkClick xmlns:r="http://schemas.openxmlformats.org/officeDocument/2006/relationships" r:id="Rdba049c6a7e242ec"/>
              </a:rPr>
              <a:t>github.com/karnaksp/dbt-af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1E3186-252E-40C9-8F86-DA3287C0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870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8708A"/>
                </a:solidFill>
                <a:latin typeface="Arial"/>
                <a:ea typeface="Arial"/>
                <a:cs typeface="Arial"/>
              </a:rPr>
              <a:t>DENIS IRINYAKOV  /  DATA ENGINEER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88E6D4-900C-45B6-9D81-B2D8012D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0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8708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518470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29553F-B800-44BD-B31B-CBCC7CCD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8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8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0C99C-5084-4CB5-BF70-F5EC32D4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stock-prices automates market visualizations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1FDF1-476A-4D06-B12E-716A0755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0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8708A"/>
                </a:solidFill>
                <a:latin typeface="Arial"/>
                <a:ea typeface="Arial"/>
                <a:cs typeface="Arial"/>
              </a:rPr>
              <a:t>A CLI and Telegram workflow for ready-to-share animated price reviews.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D147F-E128-4E8F-AED3-CB3BB2F6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2566988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E9389-B4C0-4CAF-ABD4-3762F157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8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6306F-B2A1-4139-8CBA-3CC90549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2224088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190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Ticker + period + market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688CC-FAD3-4E87-8760-049709AD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2247900"/>
            <a:ext cx="2566988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9D996-7979-423B-8EC5-373A4D52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8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73AFED-4599-4C98-AADF-3B1EDE2C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2667000"/>
            <a:ext cx="2224088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Quote loading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C8180-7B80-4E92-BE9C-CCCDF7EE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47900"/>
            <a:ext cx="2566988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67B1B9-78DB-4FCB-84AA-10CB1D90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8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CD460-0737-45A5-841A-190C889E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67000"/>
            <a:ext cx="2224088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Charts + animation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379807-280A-4809-8A04-687FBE50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247900"/>
            <a:ext cx="2566988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A7C0D5-F7E5-4DC6-A868-70831F24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8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7CA732-C0FE-4AAB-934D-8E105585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667000"/>
            <a:ext cx="2224088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Video output</a:t>
            </a:r>
          </a:p>
        </p:txBody>
      </p:sp>
      <p:cxnSp>
        <p:nvCxnSpPr>
          <p:cNvPr id="44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71838" y="27432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638FF"/>
            </a:solidFill>
            <a:prstDash val="solid"/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010276" y="2743200"/>
            <a:ext cx="17144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638FF"/>
            </a:solidFill>
            <a:prstDash val="solid"/>
            <a:tailEnd type="arrow" w="sm" len="sm"/>
          </a:ln>
        </p:spPr>
      </p:cxnSp>
      <p:cxnSp>
        <p:nvCxnSpPr>
          <p:cNvPr id="46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748713" y="27432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638FF"/>
            </a:solidFill>
            <a:prstDash val="solid"/>
            <a:tailEnd type="arrow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F3604E-9544-4589-9BB1-BA529FE7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565117-806B-4147-B200-7323C16A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8FF"/>
                </a:solidFill>
                <a:latin typeface="Arial"/>
                <a:ea typeface="Arial"/>
                <a:cs typeface="Arial"/>
              </a:rPr>
              <a:t>INTERACTION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98889A-01BA-47A7-A566-5A8D0E89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24325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Run from the command line or through a Telegram bot.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1893A8-B2F6-49E1-B4E1-D8419AF1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D687EA-1CBC-455B-B680-E126CCB7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0000"/>
            <a:ext cx="506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8FF"/>
                </a:solidFill>
                <a:latin typeface="Arial"/>
                <a:ea typeface="Arial"/>
                <a:cs typeface="Arial"/>
              </a:rPr>
              <a:t>PRACTICAL VALUE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066653-3838-4D36-9DED-F3340719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24325"/>
            <a:ext cx="506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Prepare a clear price overview without assembling charts manually.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DF1B37-5EF7-46AD-911C-A4FFB7F4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78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8FF"/>
                </a:solidFill>
                <a:latin typeface="Arial"/>
                <a:ea typeface="Arial"/>
                <a:cs typeface="Arial"/>
              </a:rPr>
              <a:t>Python  /  Telegram Bot API  /  CLI  /  Docker  /  MkDocs  /  GitHub Actions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C278AA-4C22-4230-B1C1-2F5C0AB6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8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8FF"/>
                </a:solidFill>
                <a:latin typeface="Arial"/>
                <a:ea typeface="Arial"/>
                <a:cs typeface="Arial"/>
                <a:hlinkClick xmlns:r="http://schemas.openxmlformats.org/officeDocument/2006/relationships" r:id="Rfe0e73aced314763"/>
              </a:rPr>
              <a:t>github.com/karnaksp/stock-prices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2F3D7E-6053-460F-A039-2CFC78C8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870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8708A"/>
                </a:solidFill>
                <a:latin typeface="Arial"/>
                <a:ea typeface="Arial"/>
                <a:cs typeface="Arial"/>
              </a:rPr>
              <a:t>DENIS IRINYAKOV  /  DATA ENGINEER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ECA106-8B6C-4C91-94B8-77EB052C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0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8708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77803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013D13-7780-40AA-9AE6-81DE3542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8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8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4E641-5EBD-4FCC-AC85-77E8E861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Three hackathons show applied ML range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98399-1402-4358-8355-DFCEFA2E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0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8708A"/>
                </a:solidFill>
                <a:latin typeface="Arial"/>
                <a:ea typeface="Arial"/>
                <a:cs typeface="Arial"/>
              </a:rPr>
              <a:t>Forecasting tasks across agriculture, industry, and lubricants.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cafbdceee145be"/>
          <a:stretch xmlns:a="http://schemas.openxmlformats.org/drawingml/2006/main"/>
        </p:blipFill>
        <p:spPr>
          <a:xfrm xmlns:a="http://schemas.openxmlformats.org/drawingml/2006/main">
            <a:off x="615986" y="2152650"/>
            <a:ext cx="3187628" cy="95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D2733-4126-48B3-9653-6A4E221A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666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9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E3039-EAFC-414B-AB0C-7784E53D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AgroCode Data Science Cup 2023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095A6-20FB-4235-A706-6359DEAD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2971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816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Animal productivity forecasting using feature preparation, gradient-boosting ensembles, feature selection, and regression evaluation.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C5C92-558B-4858-9ADA-5005A437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C9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C978"/>
                </a:solidFill>
                <a:latin typeface="Arial"/>
                <a:ea typeface="Arial"/>
                <a:cs typeface="Arial"/>
              </a:rPr>
              <a:t>CatBoost / XGBoost / LightGBM / stacking / blending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443f16c2f42d8"/>
          <a:stretch xmlns:a="http://schemas.openxmlformats.org/drawingml/2006/main"/>
        </p:blipFill>
        <p:spPr>
          <a:xfrm xmlns:a="http://schemas.openxmlformats.org/drawingml/2006/main">
            <a:off x="4235158" y="2152650"/>
            <a:ext cx="3188285" cy="952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D1611-34A3-430B-BE22-FE8D0FE2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76600"/>
            <a:ext cx="666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E99EF-A216-42F4-8F48-1FEA9B02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38500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Sibur Challenge 2023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C4B80-CC4E-486A-8F9C-5CF0E762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38600"/>
            <a:ext cx="2971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23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Industrial mixture parameter prediction with data cleaning, LSTM/ML models, blending, and reproducible experiment packaging.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857B70-6CEB-4CDC-89C0-DFBFCCA4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257800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B8E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B8E6"/>
                </a:solidFill>
                <a:latin typeface="Arial"/>
                <a:ea typeface="Arial"/>
                <a:cs typeface="Arial"/>
              </a:rPr>
              <a:t>LSTM / deep learning / tabular data / Docker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19e562a8f43a1"/>
          <a:stretch xmlns:a="http://schemas.openxmlformats.org/drawingml/2006/main"/>
        </p:blipFill>
        <p:spPr>
          <a:xfrm xmlns:a="http://schemas.openxmlformats.org/drawingml/2006/main">
            <a:off x="7854658" y="2152650"/>
            <a:ext cx="3188285" cy="9525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F959A3-C69D-4871-914F-3296CB7B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76600"/>
            <a:ext cx="666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8000F-206E-479B-9AF8-2045F9E5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38500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Neftekod 2024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D4059E-E63D-4050-B290-7F33B086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38600"/>
            <a:ext cx="2971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87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Lubricating-oil parameter prediction for a variable number of components using SMILES and anonymized experimental parameters.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D3F408-A7D5-43E0-9845-803BECF9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57800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8FF"/>
                </a:solidFill>
                <a:latin typeface="Arial"/>
                <a:ea typeface="Arial"/>
                <a:cs typeface="Arial"/>
              </a:rPr>
              <a:t>Deep learning / preprocessing / OOP / teamwork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7094FC-DE86-4733-A753-26372338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870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8708A"/>
                </a:solidFill>
                <a:latin typeface="Arial"/>
                <a:ea typeface="Arial"/>
                <a:cs typeface="Arial"/>
              </a:rPr>
              <a:t>DENIS IRINYAKOV  /  DATA ENGINEER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7BED90-1C23-4ACC-836F-26704A2C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0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8708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039984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EA6A07-61D8-42E3-B0D9-17892D56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8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8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A838B-04CF-47E3-8BC7-416C30B7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Engineering foundations reach beyond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9F804-1F50-46D7-AFB5-67E85B71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0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8708A"/>
                </a:solidFill>
                <a:latin typeface="Arial"/>
                <a:ea typeface="Arial"/>
                <a:cs typeface="Arial"/>
              </a:rPr>
              <a:t>Two earlier projects document systems programming and practical automation.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ac592d86c24909"/>
          <a:srcRect xmlns:a="http://schemas.openxmlformats.org/drawingml/2006/main" l="208" t="0" r="2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171700"/>
            <a:ext cx="5143500" cy="154305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5783A-13FB-4C91-86A9-0E2206C3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School 21 programming projects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B6A86A-3FB5-446F-9157-23E25A52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514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C/C++, structured and object-oriented programming, algorithms, memory, containers, GUI/QT, and team development.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fb954c157457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2171700"/>
            <a:ext cx="5143500" cy="154305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FD2AB-A549-46FB-90A5-0FA775AE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005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PDF Parser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18D8BF-B702-4B22-92AA-48FCE216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52950"/>
            <a:ext cx="514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A small Python automation project for text extraction, regular expressions, procedural processing, and structured output.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566777-DF66-43BB-B379-F75C669F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870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8708A"/>
                </a:solidFill>
                <a:latin typeface="Arial"/>
                <a:ea typeface="Arial"/>
                <a:cs typeface="Arial"/>
              </a:rPr>
              <a:t>DENIS IRINYAKOV  /  DATA ENGINEER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5E7FF-036C-4B21-B616-80EFF917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0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8708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590855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1D2C6D-3B2C-4298-940B-F97553D0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8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8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8C2F4-70E8-4DFB-BCCC-FE06FD08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Experience spans data and LLM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E87FA-B6C2-4E4D-B2CA-63D24920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0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8708A"/>
                </a:solidFill>
                <a:latin typeface="Arial"/>
                <a:ea typeface="Arial"/>
                <a:cs typeface="Arial"/>
              </a:rPr>
              <a:t>Two listed roles connect analytics, warehousing, and LLM-based chatbots.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42481-9F38-4135-91BB-8E941F24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190750"/>
            <a:ext cx="47625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E0D49-E829-4387-8D78-88BE75D7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43150"/>
            <a:ext cx="390525" cy="390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9F341-5A96-4670-AC49-5852C620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95750"/>
            <a:ext cx="390525" cy="390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9C790-3542-4FA6-B248-E164E212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8FF"/>
                </a:solidFill>
                <a:latin typeface="Arial"/>
                <a:ea typeface="Arial"/>
                <a:cs typeface="Arial"/>
              </a:rPr>
              <a:t>2023-2024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E089D-95C9-4CE2-85E1-6DAF2634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0980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Data Analyst  /  DirectService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AE18E-AF18-4C8F-A856-C92E28A8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81300"/>
            <a:ext cx="857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Loyalty-program analysis; ETL pipeline and PostgreSQL data warehouse setup; migration from ClickHouse and Greenplum; BI reporting visualization.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42CD8-4F59-40E5-910F-20E3E0BF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95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8FF"/>
                </a:solidFill>
                <a:latin typeface="Arial"/>
                <a:ea typeface="Arial"/>
                <a:cs typeface="Arial"/>
              </a:rPr>
              <a:t>SQL  /  Python  /  Analytics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A41666-5CBE-4585-A00A-5ED5B6DE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B8E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B8E6"/>
                </a:solidFill>
                <a:latin typeface="Arial"/>
                <a:ea typeface="Arial"/>
                <a:cs typeface="Arial"/>
              </a:rPr>
              <a:t>2024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9B6EE9-3685-49BF-8D99-6C9C3F47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6240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6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62B"/>
                </a:solidFill>
                <a:latin typeface="Arial"/>
                <a:ea typeface="Arial"/>
                <a:cs typeface="Arial"/>
              </a:rPr>
              <a:t>Data Scientist  /  Spacecode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DED33D-4F40-4ACC-A250-EF033D88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33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B435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B435D"/>
                </a:solidFill>
                <a:latin typeface="Arial"/>
                <a:ea typeface="Arial"/>
                <a:cs typeface="Arial"/>
              </a:rPr>
              <a:t>Development of chatbots based on large language models.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98C921-0E82-4201-9441-1A54D059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387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B8E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B8E6"/>
                </a:solidFill>
                <a:latin typeface="Arial"/>
                <a:ea typeface="Arial"/>
                <a:cs typeface="Arial"/>
              </a:rPr>
              <a:t>Machine learning  /  Data analysis  /  LLM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5177C5-8766-4E7A-9D26-4290634A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870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8708A"/>
                </a:solidFill>
                <a:latin typeface="Arial"/>
                <a:ea typeface="Arial"/>
                <a:cs typeface="Arial"/>
              </a:rPr>
              <a:t>DENIS IRINYAKOV  /  DATA ENGINEER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2C5A16-CC14-45FD-8A20-636664A3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0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8708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808548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0D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AE0429-26BA-4BEB-981C-EB857D02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8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8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ECD26-812B-4549-8933-25378B92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Explore the code, architecture, and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95F5C-E026-4886-9CAB-AEE810F8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AB2D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AB2D1"/>
                </a:solidFill>
                <a:latin typeface="Arial"/>
                <a:ea typeface="Arial"/>
                <a:cs typeface="Arial"/>
              </a:rPr>
              <a:t>Repositories and contact details are available directly from the portfolio.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72B20-127C-460F-B01A-84160C44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Education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9BE4B9-6D6B-464F-83E1-A40BC004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3BAB4-C081-41E7-8F49-DC13E301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8FF"/>
                </a:solidFill>
                <a:latin typeface="Arial"/>
                <a:ea typeface="Arial"/>
                <a:cs typeface="Arial"/>
              </a:rPr>
              <a:t>2023-2024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14EB0-D7EB-4789-919C-77224977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90875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2F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2F6"/>
                </a:solidFill>
                <a:latin typeface="Arial"/>
                <a:ea typeface="Arial"/>
                <a:cs typeface="Arial"/>
              </a:rPr>
              <a:t>Programmer, School 21 - project-based programming education from Sber.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52C5C-5CE2-4F0C-A123-EF6F324F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14D98-79CF-435F-8A31-9FE85DE2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B8E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B8E6"/>
                </a:solidFill>
                <a:latin typeface="Arial"/>
                <a:ea typeface="Arial"/>
                <a:cs typeface="Arial"/>
              </a:rPr>
              <a:t>2019-2023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9AF76D-4453-41C5-A4A9-B7199FB0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57675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2F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2F6"/>
                </a:solidFill>
                <a:latin typeface="Arial"/>
                <a:ea typeface="Arial"/>
                <a:cs typeface="Arial"/>
              </a:rPr>
              <a:t>PhD, FSC of Biodiversity - fundamental ecology.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D498A-D33C-461D-9988-B87F7556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9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63FE3E-E151-4F42-9AD9-105EE6DE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C9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C978"/>
                </a:solidFill>
                <a:latin typeface="Arial"/>
                <a:ea typeface="Arial"/>
                <a:cs typeface="Arial"/>
              </a:rPr>
              <a:t>2023-2024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62FFC3-CCD6-430B-A216-2F1A7286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24475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2F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2F6"/>
                </a:solidFill>
                <a:latin typeface="Arial"/>
                <a:ea typeface="Arial"/>
                <a:cs typeface="Arial"/>
              </a:rPr>
              <a:t>Sapiens Solutions - course: Working with Greenplum Database.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C79023-00D6-45CC-BA60-CF66FBE7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98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AB2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AB2D1"/>
                </a:solidFill>
                <a:latin typeface="Arial"/>
                <a:ea typeface="Arial"/>
                <a:cs typeface="Arial"/>
              </a:rPr>
              <a:t>Portfolio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012F5A-B58F-4774-BDE0-E074D41A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051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FA0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FA0FF"/>
                </a:solidFill>
                <a:latin typeface="Arial"/>
                <a:ea typeface="Arial"/>
                <a:cs typeface="Arial"/>
                <a:hlinkClick xmlns:r="http://schemas.openxmlformats.org/officeDocument/2006/relationships" r:id="R6862ae15558c4198"/>
              </a:rPr>
              <a:t>karnaksp.github.io/karnaksp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94A73D-4773-477A-ADCD-C51AA18B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290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AB2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AB2D1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79B209-824F-489D-843F-DA640EDF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24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FA0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FA0FF"/>
                </a:solidFill>
                <a:latin typeface="Arial"/>
                <a:ea typeface="Arial"/>
                <a:cs typeface="Arial"/>
                <a:hlinkClick xmlns:r="http://schemas.openxmlformats.org/officeDocument/2006/relationships" r:id="R24b19e4cadce4070"/>
              </a:rPr>
              <a:t>github.com/karnaksp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941F47-8843-4795-BA7F-B150810A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482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AB2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AB2D1"/>
                </a:solidFill>
                <a:latin typeface="Arial"/>
                <a:ea typeface="Arial"/>
                <a:cs typeface="Arial"/>
              </a:rPr>
              <a:t>Email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9554BB-E15B-4CB4-8C86-778DCD87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43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FA0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FA0FF"/>
                </a:solidFill>
                <a:latin typeface="Arial"/>
                <a:ea typeface="Arial"/>
                <a:cs typeface="Arial"/>
                <a:hlinkClick xmlns:r="http://schemas.openxmlformats.org/officeDocument/2006/relationships" r:id="R09858b88f16d4a65"/>
              </a:rPr>
              <a:t>irinyakov2016@yandex.ru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872189-07A4-4087-9EFC-F252EA78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9A2C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9A2C6"/>
                </a:solidFill>
                <a:latin typeface="Arial"/>
                <a:ea typeface="Arial"/>
                <a:cs typeface="Arial"/>
              </a:rPr>
              <a:t>DENIS IRINYAKOV  /  DATA ENGINEER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42152E-6113-407C-AC97-E2FE9A47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9A2C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9A2C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193773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2026-09-02T12:05:33.4560000Z</dcterms:created>
  <dcterms:modified xsi:type="dcterms:W3CDTF">2026-09-02T12:05:33.4560000Z</dcterms:modified>
</coreProperties>
</file>